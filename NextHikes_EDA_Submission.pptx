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Columns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B3D5C"/>
              </a:solidFill>
              <a:effectLst/>
            </c:spPr>
          </c:dPt>
          <c:dPt>
            <c:idx val="1"/>
            <c:bubble3D val="0"/>
            <c:spPr>
              <a:solidFill>
                <a:srgbClr val="1C7293"/>
              </a:solidFill>
              <a:effectLst/>
            </c:spPr>
          </c:dPt>
          <c:dPt>
            <c:idx val="2"/>
            <c:bubble3D val="0"/>
            <c:spPr>
              <a:solidFill>
                <a:srgbClr val="21C4A8"/>
              </a:solidFill>
              <a:effectLst/>
            </c:spPr>
          </c:dPt>
          <c:dPt>
            <c:idx val="3"/>
            <c:bubble3D val="0"/>
            <c:spPr>
              <a:solidFill>
                <a:srgbClr val="B7C4CC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Numerical (6)</c:v>
                </c:pt>
                <c:pt idx="1">
                  <c:v>Categorical (9)</c:v>
                </c:pt>
                <c:pt idx="2">
                  <c:v>Date (1)</c:v>
                </c:pt>
                <c:pt idx="3">
                  <c:v>Identifiers (2)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6</c:v>
                </c:pt>
                <c:pt idx="1">
                  <c:v>9</c:v>
                </c:pt>
                <c:pt idx="2">
                  <c:v>1</c:v>
                </c:pt>
                <c:pt idx="3">
                  <c:v>2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5A6472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4206240"/>
            <a:ext cx="4023360" cy="4023360"/>
          </a:xfrm>
          <a:prstGeom prst="ellipse">
            <a:avLst/>
          </a:prstGeom>
          <a:solidFill>
            <a:srgbClr val="0B3D5C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5120640"/>
            <a:ext cx="2560320" cy="2560320"/>
          </a:xfrm>
          <a:prstGeom prst="ellipse">
            <a:avLst/>
          </a:prstGeom>
          <a:solidFill>
            <a:srgbClr val="1C7293">
              <a:alpha val="6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097280" y="-1463040"/>
            <a:ext cx="3291840" cy="329184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554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1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NEXTHIKES IT SOLUTIONS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965960"/>
            <a:ext cx="87782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Exploratory Data Analysis of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Large-Scale Retail Transaction Data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7033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Univariate, Bivariate &amp; Multivariate Statistical Analysis of 100,000 Retail Transactions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4617720"/>
            <a:ext cx="7315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21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 </a:t>
            </a:r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DC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retail_large_dataset.csv · 100,000 rows · 18 columns
</a:t>
            </a:r>
            <a:pPr indent="0" marL="0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21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 </a:t>
            </a:r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DC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Pandas · NumPy · Matplotlib · Seaborn · SciPy
</a:t>
            </a:r>
            <a:pPr indent="0" marL="0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21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 Date:  </a:t>
            </a:r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DC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25th September,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Analysis Covers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61188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DE6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8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49808" y="1819656"/>
            <a:ext cx="914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7D6D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313432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624328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Structure, quality, variable types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416552" y="1691640"/>
            <a:ext cx="361188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DE6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8">
                <a:alpha val="2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617720" y="1819656"/>
            <a:ext cx="914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7D6D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4645152" y="2313432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Univariate Analysis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4645152" y="2624328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Distributions, skewness &amp; kurtosis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284464" y="1691640"/>
            <a:ext cx="361188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DE6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8">
                <a:alpha val="2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485632" y="1819656"/>
            <a:ext cx="914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7D6D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8513064" y="2313432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Detection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8513064" y="2624328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IQR and Z-score methods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3172968"/>
            <a:ext cx="361188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DE6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8">
                <a:alpha val="2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749808" y="3300984"/>
            <a:ext cx="914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7D6D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379476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Analysis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777240" y="4105656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relationships between variables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416552" y="3172968"/>
            <a:ext cx="361188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DE6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8">
                <a:alpha val="25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4617720" y="3300984"/>
            <a:ext cx="914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7D6D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600" dirty="0"/>
          </a:p>
        </p:txBody>
      </p:sp>
      <p:sp>
        <p:nvSpPr>
          <p:cNvPr id="22" name="Text 20"/>
          <p:cNvSpPr txBox="1"/>
          <p:nvPr/>
        </p:nvSpPr>
        <p:spPr>
          <a:xfrm>
            <a:off x="4645152" y="379476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Bivariate Analysis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4645152" y="4105656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vs. categorical comparisons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284464" y="3172968"/>
            <a:ext cx="361188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DE6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8">
                <a:alpha val="25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8485632" y="3300984"/>
            <a:ext cx="914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7D6D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600" dirty="0"/>
          </a:p>
        </p:txBody>
      </p:sp>
      <p:sp>
        <p:nvSpPr>
          <p:cNvPr id="26" name="Text 24"/>
          <p:cNvSpPr txBox="1"/>
          <p:nvPr/>
        </p:nvSpPr>
        <p:spPr>
          <a:xfrm>
            <a:off x="8513064" y="379476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Multivariate Analysis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8513064" y="4105656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Three-way interaction effects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48640" y="4654296"/>
            <a:ext cx="361188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DE6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8">
                <a:alpha val="25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749808" y="4782312"/>
            <a:ext cx="914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7D6D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2600" dirty="0"/>
          </a:p>
        </p:txBody>
      </p:sp>
      <p:sp>
        <p:nvSpPr>
          <p:cNvPr id="30" name="Text 28"/>
          <p:cNvSpPr txBox="1"/>
          <p:nvPr/>
        </p:nvSpPr>
        <p:spPr>
          <a:xfrm>
            <a:off x="777240" y="5276088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350" dirty="0"/>
          </a:p>
        </p:txBody>
      </p:sp>
      <p:sp>
        <p:nvSpPr>
          <p:cNvPr id="31" name="Text 29"/>
          <p:cNvSpPr txBox="1"/>
          <p:nvPr/>
        </p:nvSpPr>
        <p:spPr>
          <a:xfrm>
            <a:off x="777240" y="5586984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actually shows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NextHikes IT Solutions  —  Retail Transaction EDA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Overview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697480" cy="1554480"/>
          </a:xfrm>
          <a:prstGeom prst="roundRect">
            <a:avLst>
              <a:gd name="adj" fmla="val 4706"/>
            </a:avLst>
          </a:prstGeom>
          <a:solidFill>
            <a:srgbClr val="0B3D5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984248"/>
            <a:ext cx="2697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100,000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74320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F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Records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502152" y="1783080"/>
            <a:ext cx="2697480" cy="1554480"/>
          </a:xfrm>
          <a:prstGeom prst="roundRect">
            <a:avLst>
              <a:gd name="adj" fmla="val 4706"/>
            </a:avLst>
          </a:prstGeom>
          <a:solidFill>
            <a:srgbClr val="EEF3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502152" y="1984248"/>
            <a:ext cx="2697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3502152" y="274320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 Captured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55664" y="1783080"/>
            <a:ext cx="2697480" cy="1554480"/>
          </a:xfrm>
          <a:prstGeom prst="roundRect">
            <a:avLst>
              <a:gd name="adj" fmla="val 4706"/>
            </a:avLst>
          </a:prstGeom>
          <a:solidFill>
            <a:srgbClr val="EEF3F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55664" y="1984248"/>
            <a:ext cx="2697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6455664" y="274320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Categories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409176" y="1783080"/>
            <a:ext cx="2697480" cy="1554480"/>
          </a:xfrm>
          <a:prstGeom prst="roundRect">
            <a:avLst>
              <a:gd name="adj" fmla="val 4706"/>
            </a:avLst>
          </a:prstGeom>
          <a:solidFill>
            <a:srgbClr val="EEF3F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409176" y="1984248"/>
            <a:ext cx="2697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400" dirty="0"/>
          </a:p>
        </p:txBody>
      </p:sp>
      <p:sp>
        <p:nvSpPr>
          <p:cNvPr id="15" name="Text 13"/>
          <p:cNvSpPr txBox="1"/>
          <p:nvPr/>
        </p:nvSpPr>
        <p:spPr>
          <a:xfrm>
            <a:off x="9409176" y="274320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3657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Composition</a:t>
            </a:r>
            <a:endParaRPr lang="en-US" sz="1400" dirty="0"/>
          </a:p>
        </p:txBody>
      </p:sp>
      <p:graphicFrame>
        <p:nvGraphicFramePr>
          <p:cNvPr id="17" name="Chart 0" descr=""/>
          <p:cNvGraphicFramePr/>
          <p:nvPr/>
        </p:nvGraphicFramePr>
        <p:xfrm>
          <a:off x="457200" y="3794760"/>
          <a:ext cx="4206240" cy="2514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8" name="Shape 15"/>
          <p:cNvSpPr/>
          <p:nvPr/>
        </p:nvSpPr>
        <p:spPr>
          <a:xfrm>
            <a:off x="5029200" y="3931920"/>
            <a:ext cx="6583680" cy="2743200"/>
          </a:xfrm>
          <a:prstGeom prst="roundRect">
            <a:avLst>
              <a:gd name="adj" fmla="val 2667"/>
            </a:avLst>
          </a:prstGeom>
          <a:solidFill>
            <a:srgbClr val="EEF3F6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5349240" y="4114800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Used in This Analysis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5349240" y="4572000"/>
            <a:ext cx="603504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Numerical:  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age, product_price, quantity, discount_percentage, final_price, delivery_days
</a:t>
            </a:r>
            <a:pPr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Categorical:  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customer_segment, product_category, payment_method, shipping_type, return_status, gender, city, state
</a:t>
            </a:r>
            <a:pPr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Excluded from statistics:  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customer_id, order_id (unique identifiers)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NextHikes IT Solutions  —  Retail Transaction EDA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02 · UNIVARIATE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Distribution of Numerical Variables</a:t>
            </a:r>
            <a:endParaRPr lang="en-US" sz="2800" dirty="0"/>
          </a:p>
        </p:txBody>
      </p:sp>
      <p:pic>
        <p:nvPicPr>
          <p:cNvPr id="4" name="Image 0" descr="fig_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554480"/>
            <a:ext cx="7818120" cy="40233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503920" y="1554480"/>
            <a:ext cx="3200400" cy="4023360"/>
          </a:xfrm>
          <a:prstGeom prst="roundRect">
            <a:avLst>
              <a:gd name="adj" fmla="val 2286"/>
            </a:avLst>
          </a:prstGeom>
          <a:solidFill>
            <a:srgbClr val="EEF3F6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732520" y="17373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Shape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8732520" y="2148840"/>
            <a:ext cx="27432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of 6 variables
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flat / rectangular — the signature of a uniform distribution: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skew ≈ 0.00
excess kurtosis ≈ −1.2
(uniform's exact value)
</a:t>
            </a:r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final_price
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right-skewed (0.94) — because it's a product of the others, not an independent measurement.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NextHikes IT Solutions  —  Retail Transaction EDA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03 · OUTLIER DETECTION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IQR &amp; Z-Score Methods</a:t>
            </a:r>
            <a:endParaRPr lang="en-US" sz="2800" dirty="0"/>
          </a:p>
        </p:txBody>
      </p:sp>
      <p:pic>
        <p:nvPicPr>
          <p:cNvPr id="4" name="Image 0" descr="fig_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645920"/>
            <a:ext cx="7955280" cy="30632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4892040"/>
            <a:ext cx="3657600" cy="1417320"/>
          </a:xfrm>
          <a:prstGeom prst="roundRect">
            <a:avLst>
              <a:gd name="adj" fmla="val 5161"/>
            </a:avLst>
          </a:prstGeom>
          <a:solidFill>
            <a:srgbClr val="EEF3F6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685800" y="50292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IQR Method</a:t>
            </a:r>
            <a:endParaRPr lang="en-US" sz="115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533095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final_price only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5733288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high-value multi-item baskets, not errors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389120" y="4892040"/>
            <a:ext cx="3657600" cy="1417320"/>
          </a:xfrm>
          <a:prstGeom prst="roundRect">
            <a:avLst>
              <a:gd name="adj" fmla="val 5161"/>
            </a:avLst>
          </a:prstGeom>
          <a:solidFill>
            <a:srgbClr val="EEF3F6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617720" y="50292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Z-score (|z| &gt; 3)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4617720" y="533095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final_price only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4617720" y="5733288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IQR result independently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321040" y="4892040"/>
            <a:ext cx="3657600" cy="1417320"/>
          </a:xfrm>
          <a:prstGeom prst="roundRect">
            <a:avLst>
              <a:gd name="adj" fmla="val 5161"/>
            </a:avLst>
          </a:prstGeom>
          <a:solidFill>
            <a:srgbClr val="0B3D5C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549640" y="50292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150" dirty="0"/>
          </a:p>
        </p:txBody>
      </p:sp>
      <p:sp>
        <p:nvSpPr>
          <p:cNvPr id="15" name="Text 12"/>
          <p:cNvSpPr txBox="1"/>
          <p:nvPr/>
        </p:nvSpPr>
        <p:spPr>
          <a:xfrm>
            <a:off x="8549640" y="533095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Outliers retained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8549640" y="5733288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F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genuine premium/bulk transactions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NextHikes IT Solutions  —  Retail Transaction EDA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02 · UNIVARIATE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Categorical Variable Frequencies</a:t>
            </a:r>
            <a:endParaRPr lang="en-US" sz="2800" dirty="0"/>
          </a:p>
        </p:txBody>
      </p:sp>
      <p:pic>
        <p:nvPicPr>
          <p:cNvPr id="4" name="Image 0" descr="fig_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554480"/>
            <a:ext cx="8138160" cy="39319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778240" y="1554480"/>
            <a:ext cx="2926080" cy="3931920"/>
          </a:xfrm>
          <a:prstGeom prst="roundRect">
            <a:avLst>
              <a:gd name="adj" fmla="val 2500"/>
            </a:avLst>
          </a:prstGeom>
          <a:solidFill>
            <a:srgbClr val="EEF3F6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006840" y="178308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category is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near-even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9006840" y="2606040"/>
            <a:ext cx="246888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Segments:  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33.5% / 33.4% / 33.2%
</a:t>
            </a:r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Categories:  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6 within 16.5–16.9%
</a:t>
            </a:r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Returns:  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14.8% (matches brief's ~15%)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NextHikes IT Solutions  —  Retail Transaction EDA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04 · CORRELATION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Pearson Correlation Between Numerical Variables</a:t>
            </a:r>
            <a:endParaRPr lang="en-US" sz="2800" dirty="0"/>
          </a:p>
        </p:txBody>
      </p:sp>
      <p:pic>
        <p:nvPicPr>
          <p:cNvPr id="4" name="Image 0" descr="fig_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63040"/>
            <a:ext cx="5212080" cy="44805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035040" y="1600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with final_price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035040" y="2103120"/>
            <a:ext cx="5577840" cy="621792"/>
          </a:xfrm>
          <a:prstGeom prst="roundRect">
            <a:avLst>
              <a:gd name="adj" fmla="val 8824"/>
            </a:avLst>
          </a:prstGeom>
          <a:solidFill>
            <a:srgbClr val="E7F1F5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263640" y="2176272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product_price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9144000" y="2176272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+0.731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10195560" y="2176272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positive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035040" y="2834640"/>
            <a:ext cx="5577840" cy="621792"/>
          </a:xfrm>
          <a:prstGeom prst="roundRect">
            <a:avLst>
              <a:gd name="adj" fmla="val 8824"/>
            </a:avLst>
          </a:prstGeom>
          <a:solidFill>
            <a:srgbClr val="E7F1F5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263640" y="2907792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quantity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9144000" y="2907792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+0.575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10195560" y="2907792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Moderate–strong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035040" y="3566160"/>
            <a:ext cx="5577840" cy="621792"/>
          </a:xfrm>
          <a:prstGeom prst="roundRect">
            <a:avLst>
              <a:gd name="adj" fmla="val 8824"/>
            </a:avLst>
          </a:prstGeom>
          <a:solidFill>
            <a:srgbClr val="EEF3F6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6263640" y="3639312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discount_percentage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9144000" y="3639312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A64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−0.137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10195560" y="3639312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negative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6035040" y="4297680"/>
            <a:ext cx="5577840" cy="621792"/>
          </a:xfrm>
          <a:prstGeom prst="roundRect">
            <a:avLst>
              <a:gd name="adj" fmla="val 8824"/>
            </a:avLst>
          </a:prstGeom>
          <a:solidFill>
            <a:srgbClr val="EEF3F6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6263640" y="4370832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9144000" y="4370832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A64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−0.001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10195560" y="4370832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6035040" y="5029200"/>
            <a:ext cx="5577840" cy="621792"/>
          </a:xfrm>
          <a:prstGeom prst="roundRect">
            <a:avLst>
              <a:gd name="adj" fmla="val 8824"/>
            </a:avLst>
          </a:prstGeom>
          <a:solidFill>
            <a:srgbClr val="EEF3F6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6263640" y="5102352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delivery_days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9144000" y="5102352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A64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+0.004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10195560" y="5102352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NextHikes IT Solutions  —  Retail Transaction EDA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389120"/>
            <a:ext cx="4572000" cy="4572000"/>
          </a:xfrm>
          <a:prstGeom prst="ellipse">
            <a:avLst/>
          </a:prstGeom>
          <a:solidFill>
            <a:srgbClr val="0B3D5C">
              <a:alpha val="55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640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1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CENTRAL FINDING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051560"/>
            <a:ext cx="10424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final_price Is Not an Independent Measurement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148840"/>
            <a:ext cx="10515600" cy="1097280"/>
          </a:xfrm>
          <a:prstGeom prst="roundRect">
            <a:avLst>
              <a:gd name="adj" fmla="val 8333"/>
            </a:avLst>
          </a:prstGeom>
          <a:solidFill>
            <a:srgbClr val="0F2A44"/>
          </a:solidFill>
          <a:ln w="12700">
            <a:solidFill>
              <a:srgbClr val="21C4A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97280" y="2148840"/>
            <a:ext cx="9966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1C4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final_price  =  product_price  ×  quantity  ×  (1 − discount_percentage / 100)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38328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F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exactly across all 100,000 rows (max deviation: 2.9 × 10⁻¹¹)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68680" y="4142232"/>
            <a:ext cx="109728" cy="109728"/>
          </a:xfrm>
          <a:prstGeom prst="ellipse">
            <a:avLst/>
          </a:prstGeom>
          <a:solidFill>
            <a:srgbClr val="21C4A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143000" y="3995928"/>
            <a:ext cx="9966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C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age, product_price, quantity, discount_percentage, and delivery_days are independent, uniformly-distributed random variables.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68680" y="4764024"/>
            <a:ext cx="109728" cy="109728"/>
          </a:xfrm>
          <a:prstGeom prst="ellipse">
            <a:avLst/>
          </a:prstGeom>
          <a:solidFill>
            <a:srgbClr val="21C4A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143000" y="4617720"/>
            <a:ext cx="9966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C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pairwise correlation among them is under ±0.01 — statistically indistinguishable from zero.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68680" y="5385816"/>
            <a:ext cx="109728" cy="109728"/>
          </a:xfrm>
          <a:prstGeom prst="ellipse">
            <a:avLst/>
          </a:prstGeom>
          <a:solidFill>
            <a:srgbClr val="21C4A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143000" y="5239512"/>
            <a:ext cx="9966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C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real relationships in this dataset flow from the pricing formula above — not from customer behaviour.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NextHikes IT Solutions  —  Retail Transaction EDA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05 · BIVARIATE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Segment vs. Spending</a:t>
            </a:r>
            <a:endParaRPr lang="en-US" sz="2800" dirty="0"/>
          </a:p>
        </p:txBody>
      </p:sp>
      <p:pic>
        <p:nvPicPr>
          <p:cNvPr id="4" name="Image 0" descr="fig_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554480"/>
            <a:ext cx="5760720" cy="35661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583680" y="1554480"/>
            <a:ext cx="5166360" cy="1600200"/>
          </a:xfrm>
          <a:prstGeom prst="roundRect">
            <a:avLst>
              <a:gd name="adj" fmla="val 4571"/>
            </a:avLst>
          </a:prstGeom>
          <a:solidFill>
            <a:srgbClr val="EEF3F6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6858000" y="17373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ANOVA Test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6858000" y="2148840"/>
            <a:ext cx="4663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B3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 = 1.659,   p = 0.190
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&gt; 0.05  →  no statistically significant difference in spending across segments.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583680" y="3337560"/>
            <a:ext cx="5166360" cy="1783080"/>
          </a:xfrm>
          <a:prstGeom prst="roundRect">
            <a:avLst>
              <a:gd name="adj" fmla="val 4103"/>
            </a:avLst>
          </a:prstGeom>
          <a:solidFill>
            <a:srgbClr val="FDEDEC"/>
          </a:solidFill>
          <a:ln w="12700">
            <a:solidFill>
              <a:srgbClr val="F1C4BD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858000" y="35204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Brief's Expected Insight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6858000" y="388620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“Premium customers had higher average spending.”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6858000" y="4343400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supported by this data — mean final_price is statistically identical across New, Regular, and Premium segments.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NextHikes IT Solutions  —  Retail Transaction EDA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06 · MULTIVARIATE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Category × Discount Band × Revenue</a:t>
            </a:r>
            <a:endParaRPr lang="en-US" sz="2800" dirty="0"/>
          </a:p>
        </p:txBody>
      </p:sp>
      <p:pic>
        <p:nvPicPr>
          <p:cNvPr id="4" name="Image 0" descr="fig_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00200"/>
            <a:ext cx="8778240" cy="44805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9646920" y="1600200"/>
            <a:ext cx="2103120" cy="4480560"/>
          </a:xfrm>
          <a:prstGeom prst="roundRect">
            <a:avLst>
              <a:gd name="adj" fmla="val 3478"/>
            </a:avLst>
          </a:prstGeom>
          <a:solidFill>
            <a:srgbClr val="EEF3F6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829800" y="1828800"/>
            <a:ext cx="178308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falls steadily left to right in every row — expected, since discount is a direct factor in the price formula.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missing: no category row stands out from the others. Category has no independent effect.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NextHikes IT Solutions  —  Retail Transaction EDA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06 · MULTIVARIATE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Segment × Age Group × Spending</a:t>
            </a:r>
            <a:endParaRPr lang="en-US" sz="2800" dirty="0"/>
          </a:p>
        </p:txBody>
      </p:sp>
      <p:pic>
        <p:nvPicPr>
          <p:cNvPr id="4" name="Image 0" descr="fig_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00200"/>
            <a:ext cx="8778240" cy="4572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9646920" y="1600200"/>
            <a:ext cx="2103120" cy="4572000"/>
          </a:xfrm>
          <a:prstGeom prst="roundRect">
            <a:avLst>
              <a:gd name="adj" fmla="val 3478"/>
            </a:avLst>
          </a:prstGeom>
          <a:solidFill>
            <a:srgbClr val="EEF3F6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829800" y="1828800"/>
            <a:ext cx="178308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 expected: “Premium customers aged 30–45 spent the most.”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Actual: values fluctuate randomly across every segment/age cell — no age group or segment stands out.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NextHikes IT Solutions  —  Retail Transaction EDA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06 · MULTIVARIATE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Shipping Type × Delivery Days × Return Rate</a:t>
            </a:r>
            <a:endParaRPr lang="en-US" sz="2800" dirty="0"/>
          </a:p>
        </p:txBody>
      </p:sp>
      <p:pic>
        <p:nvPicPr>
          <p:cNvPr id="4" name="Image 0" descr="fig_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00200"/>
            <a:ext cx="8138160" cy="42519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9006840" y="1600200"/>
            <a:ext cx="2743200" cy="4251960"/>
          </a:xfrm>
          <a:prstGeom prst="roundRect">
            <a:avLst>
              <a:gd name="adj" fmla="val 2667"/>
            </a:avLst>
          </a:prstGeom>
          <a:solidFill>
            <a:srgbClr val="EEF3F6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235440" y="178308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Check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9235440" y="2194560"/>
            <a:ext cx="233172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0B3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 = +0.001
</a:t>
            </a:r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 delivery_days and return status
</a:t>
            </a:r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 expected longer delivery → more returns. </a:t>
            </a:r>
            <a:pPr indent="0" marL="0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dataset shows no such link.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NextHikes IT Solutions  —  Retail Transaction EDA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07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Brief's Expected Insights vs. What the Data Shows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41148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600200"/>
            <a:ext cx="6583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Brief's Claim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7406640" y="160020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8641080" y="1600200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Finding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011680"/>
            <a:ext cx="11064240" cy="489204"/>
          </a:xfrm>
          <a:prstGeom prst="rect">
            <a:avLst/>
          </a:prstGeom>
          <a:solidFill>
            <a:srgbClr val="FFFFFF"/>
          </a:solidFill>
          <a:ln w="6350">
            <a:solidFill>
              <a:srgbClr val="E3E9E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2011680"/>
            <a:ext cx="6583680" cy="4892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uniform 0–30%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7406640" y="2011680"/>
            <a:ext cx="1097280" cy="4892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641080" y="2011680"/>
            <a:ext cx="2971800" cy="4892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2500884"/>
            <a:ext cx="11064240" cy="489204"/>
          </a:xfrm>
          <a:prstGeom prst="rect">
            <a:avLst/>
          </a:prstGeom>
          <a:solidFill>
            <a:srgbClr val="EEF3F6"/>
          </a:solidFill>
          <a:ln w="6350">
            <a:solidFill>
              <a:srgbClr val="E3E9E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2500884"/>
            <a:ext cx="6583680" cy="4892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rate ≈ 15%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7406640" y="2500884"/>
            <a:ext cx="1097280" cy="4892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641080" y="2500884"/>
            <a:ext cx="2971800" cy="4892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— 14.8%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2990088"/>
            <a:ext cx="11064240" cy="489204"/>
          </a:xfrm>
          <a:prstGeom prst="rect">
            <a:avLst/>
          </a:prstGeom>
          <a:solidFill>
            <a:srgbClr val="FFFFFF"/>
          </a:solidFill>
          <a:ln w="6350">
            <a:solidFill>
              <a:srgbClr val="E3E9E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" y="2990088"/>
            <a:ext cx="6583680" cy="4892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product_price positively skewed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7406640" y="2990088"/>
            <a:ext cx="1097280" cy="4892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8641080" y="2990088"/>
            <a:ext cx="2971800" cy="4892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Symmetric (skew = 0.003)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3479292"/>
            <a:ext cx="11064240" cy="489204"/>
          </a:xfrm>
          <a:prstGeom prst="rect">
            <a:avLst/>
          </a:prstGeom>
          <a:solidFill>
            <a:srgbClr val="EEF3F6"/>
          </a:solidFill>
          <a:ln w="6350">
            <a:solidFill>
              <a:srgbClr val="E3E9E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31520" y="3479292"/>
            <a:ext cx="6583680" cy="4892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final_price has heavy tails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7406640" y="3479292"/>
            <a:ext cx="1097280" cy="4892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8641080" y="3479292"/>
            <a:ext cx="2971800" cy="4892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Near-normal (kurtosis = 0.17)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3968496"/>
            <a:ext cx="11064240" cy="489204"/>
          </a:xfrm>
          <a:prstGeom prst="rect">
            <a:avLst/>
          </a:prstGeom>
          <a:solidFill>
            <a:srgbClr val="FFFFFF"/>
          </a:solidFill>
          <a:ln w="6350">
            <a:solidFill>
              <a:srgbClr val="E3E9E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31520" y="3968496"/>
            <a:ext cx="6583680" cy="4892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Majority “Regular” segment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7406640" y="3968496"/>
            <a:ext cx="1097280" cy="4892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8641080" y="3968496"/>
            <a:ext cx="2971800" cy="4892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3-way split (~33% each)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4457700"/>
            <a:ext cx="11064240" cy="489204"/>
          </a:xfrm>
          <a:prstGeom prst="rect">
            <a:avLst/>
          </a:prstGeom>
          <a:solidFill>
            <a:srgbClr val="EEF3F6"/>
          </a:solidFill>
          <a:ln w="6350">
            <a:solidFill>
              <a:srgbClr val="E3E9ED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31520" y="4457700"/>
            <a:ext cx="6583680" cy="4892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 highest transactions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406640" y="4457700"/>
            <a:ext cx="1097280" cy="4892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8641080" y="4457700"/>
            <a:ext cx="2971800" cy="4892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6 categories ≈ 16.7%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48640" y="4946904"/>
            <a:ext cx="11064240" cy="489204"/>
          </a:xfrm>
          <a:prstGeom prst="rect">
            <a:avLst/>
          </a:prstGeom>
          <a:solidFill>
            <a:srgbClr val="FFFFFF"/>
          </a:solidFill>
          <a:ln w="6350">
            <a:solidFill>
              <a:srgbClr val="E3E9ED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31520" y="4946904"/>
            <a:ext cx="6583680" cy="4892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customers spend more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7406640" y="4946904"/>
            <a:ext cx="1097280" cy="4892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8641080" y="4946904"/>
            <a:ext cx="2971800" cy="4892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ANOVA p = 0.19, no difference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5436108"/>
            <a:ext cx="11064240" cy="489204"/>
          </a:xfrm>
          <a:prstGeom prst="rect">
            <a:avLst/>
          </a:prstGeom>
          <a:solidFill>
            <a:srgbClr val="EEF3F6"/>
          </a:solidFill>
          <a:ln w="6350">
            <a:solidFill>
              <a:srgbClr val="E3E9ED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31520" y="5436108"/>
            <a:ext cx="6583680" cy="4892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shipping cuts delivery time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7406640" y="5436108"/>
            <a:ext cx="1097280" cy="4892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8641080" y="5436108"/>
            <a:ext cx="2971800" cy="4892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5.50 vs 5.51 days, p = 0.37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548640" y="5925312"/>
            <a:ext cx="11064240" cy="489204"/>
          </a:xfrm>
          <a:prstGeom prst="rect">
            <a:avLst/>
          </a:prstGeom>
          <a:solidFill>
            <a:srgbClr val="FFFFFF"/>
          </a:solidFill>
          <a:ln w="6350">
            <a:solidFill>
              <a:srgbClr val="E3E9ED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731520" y="5925312"/>
            <a:ext cx="6583680" cy="4892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Longer delivery → more returns</a:t>
            </a:r>
            <a:endParaRPr lang="en-US" sz="1100" dirty="0"/>
          </a:p>
        </p:txBody>
      </p:sp>
      <p:sp>
        <p:nvSpPr>
          <p:cNvPr id="42" name="Text 40"/>
          <p:cNvSpPr txBox="1"/>
          <p:nvPr/>
        </p:nvSpPr>
        <p:spPr>
          <a:xfrm>
            <a:off x="7406640" y="5925312"/>
            <a:ext cx="1097280" cy="4892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43" name="Text 41"/>
          <p:cNvSpPr txBox="1"/>
          <p:nvPr/>
        </p:nvSpPr>
        <p:spPr>
          <a:xfrm>
            <a:off x="8641080" y="5925312"/>
            <a:ext cx="2971800" cy="4892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+0.001, no relationship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NextHikes IT Solutions  —  Retail Transaction EDA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-1371600"/>
            <a:ext cx="4114800" cy="4114800"/>
          </a:xfrm>
          <a:prstGeom prst="ellipse">
            <a:avLst/>
          </a:prstGeom>
          <a:solidFill>
            <a:srgbClr val="0B3D5C">
              <a:alpha val="60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731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1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143000"/>
            <a:ext cx="10241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Complete EDA — and an Honest Read of the Data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286000"/>
            <a:ext cx="10424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21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Techniques applied: 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C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univariate, bivariate &amp; multivariate analysis · IQR/Z-score outlier detection · Pearson correlation · ANOVA · skewness &amp; kurtosis
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22960" y="3429000"/>
            <a:ext cx="10424160" cy="1965960"/>
          </a:xfrm>
          <a:prstGeom prst="roundRect">
            <a:avLst>
              <a:gd name="adj" fmla="val 4651"/>
            </a:avLst>
          </a:prstGeom>
          <a:solidFill>
            <a:srgbClr val="0F2A44"/>
          </a:solidFill>
          <a:ln w="12700">
            <a:solidFill>
              <a:srgbClr val="21C4A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97280" y="3611880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takeaway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3977640"/>
            <a:ext cx="987552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DC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of six numerical variables are independent, uniformly-distributed random data with no real relationships to spending, segment, or returns. final_price is the one exception — it is fully explained by a deterministic pricing formula, not by customer behaviour. Distinguishing what a dataset is expected to show from what it actually demonstrates is the core value of exploratory analysis.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NextHikes IT Solutions  —  Retail Transaction EDA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2026-09-17T11:31:25Z</dcterms:created>
  <dcterms:modified xsi:type="dcterms:W3CDTF">2026-09-17T11:31:25Z</dcterms:modified>
</cp:coreProperties>
</file>